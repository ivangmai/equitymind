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0" y="-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6280"/>
            <a:ext cx="12191695" cy="233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7118" y="17830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131A15"/>
                </a:solidFill>
                <a:latin typeface="Segoe UI"/>
              </a:rPr>
              <a:t>Equity</a:t>
            </a:r>
            <a:r>
              <a:rPr sz="8000" b="1">
                <a:solidFill>
                  <a:srgbClr val="21A038"/>
                </a:solidFill>
                <a:latin typeface="Segoe UI"/>
              </a:rPr>
              <a:t>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306324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7625B"/>
                </a:solidFill>
                <a:latin typeface="Segoe UI"/>
              </a:rPr>
              <a:t>От сырых котировок — до готовой аналитики. Автоматически.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4343400"/>
            <a:ext cx="2606040" cy="502920"/>
          </a:xfrm>
          <a:prstGeom prst="roundRect">
            <a:avLst>
              <a:gd name="adj" fmla="val 50000"/>
            </a:avLst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mind.foodize.ru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7478" y="441655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7625B"/>
                </a:solidFill>
                <a:latin typeface="Segoe UI"/>
              </a:rPr>
              <a:t>Иван Герасимов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99656" y="4639111"/>
            <a:ext cx="1584920" cy="1584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384" y="4748839"/>
            <a:ext cx="1365464" cy="1365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Между котировками и выводом — часы ручной рутины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331720"/>
            <a:ext cx="3257206" cy="3063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294" y="25694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ВХОД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94" y="28986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Поток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94" y="32826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Котировки MOEX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94" y="364845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Глобальные рынки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94" y="4014215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Новостной 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1756" y="36347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7244" y="2331720"/>
            <a:ext cx="3257206" cy="3063240"/>
          </a:xfrm>
          <a:prstGeom prst="roundRect">
            <a:avLst>
              <a:gd name="adj" fmla="val 5500"/>
            </a:avLst>
          </a:prstGeom>
          <a:solidFill>
            <a:srgbClr val="F8EAE2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2420" y="25694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ВРУЧНУЮ · ЧАСЫ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2420" y="28986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Рутина аналитика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420" y="32826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C2410C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Сбор и анализ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0" y="364845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C2410C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Расчёт метрик в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2420" y="4014215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C2410C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Графики и слайды руками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1882" y="36347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7370" y="2331720"/>
            <a:ext cx="3257206" cy="3063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92546" y="25694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ВЫХОД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2546" y="28986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Один обзор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2546" y="32826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К моменту готовности рынок уже изменился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EquityMind проходит этот путь за минуты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103120"/>
            <a:ext cx="3257206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294" y="23408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94" y="26700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Рынки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94" y="30540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Московская биржа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94" y="341985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Глобальные рынки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94" y="3785615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Фундаментальные показатели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1756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7244" y="2103120"/>
            <a:ext cx="3257206" cy="3566160"/>
          </a:xfrm>
          <a:prstGeom prst="roundRect">
            <a:avLst>
              <a:gd name="adj" fmla="val 5500"/>
            </a:avLst>
          </a:prstGeom>
          <a:solidFill>
            <a:srgbClr val="E6F4E9"/>
          </a:solidFill>
          <a:ln w="12700">
            <a:solidFill>
              <a:srgbClr val="21A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2420" y="23408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ЯДРО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2420" y="26700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Аналитика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420" y="30540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Доходность и волатильность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0" y="341985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Риск: VaR, CVaR, просадки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2420" y="3785615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Портфели и оптимизация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2420" y="415137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Опционы и форварды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1882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7370" y="2103120"/>
            <a:ext cx="3257206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92546" y="2340863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РЕЗУЛЬТАТ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2546" y="267004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Готовый материал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2546" y="305409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Комментарий ИИ-аналитика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2546" y="341985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Презентация PowerPoint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2546" y="3785615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Excel с формулами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2546" y="415137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Ежедневная сводка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ЖИВОЙ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Система развёрнута и работает — можно открыть прямо сейчас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331720"/>
            <a:ext cx="10777458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5406" y="2350008"/>
            <a:ext cx="10740882" cy="384048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8286" y="2482596"/>
            <a:ext cx="118872" cy="118872"/>
          </a:xfrm>
          <a:prstGeom prst="ellipse">
            <a:avLst/>
          </a:prstGeom>
          <a:solidFill>
            <a:srgbClr val="E3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0310" y="2482596"/>
            <a:ext cx="118872" cy="118872"/>
          </a:xfrm>
          <a:prstGeom prst="ellipse">
            <a:avLst/>
          </a:prstGeom>
          <a:solidFill>
            <a:srgbClr val="E3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92334" y="2482596"/>
            <a:ext cx="118872" cy="118872"/>
          </a:xfrm>
          <a:prstGeom prst="ellipse">
            <a:avLst/>
          </a:prstGeom>
          <a:solidFill>
            <a:srgbClr val="E3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75798" y="2414015"/>
            <a:ext cx="38404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57625B"/>
                </a:solidFill>
                <a:latin typeface="Segoe UI"/>
              </a:rPr>
              <a:t>mind.foodize.ru</a:t>
            </a:r>
          </a:p>
        </p:txBody>
      </p:sp>
      <p:pic>
        <p:nvPicPr>
          <p:cNvPr id="11" name="Picture 10" descr="dashboard_clean.png"/>
          <p:cNvPicPr>
            <a:picLocks noChangeAspect="1"/>
          </p:cNvPicPr>
          <p:nvPr/>
        </p:nvPicPr>
        <p:blipFill>
          <a:blip r:embed="rId2"/>
          <a:srcRect b="50249"/>
          <a:stretch>
            <a:fillRect/>
          </a:stretch>
        </p:blipFill>
        <p:spPr>
          <a:xfrm>
            <a:off x="725406" y="2734056"/>
            <a:ext cx="10740882" cy="28254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7118" y="5806440"/>
            <a:ext cx="2368296" cy="384048"/>
          </a:xfrm>
          <a:prstGeom prst="roundRect">
            <a:avLst>
              <a:gd name="adj" fmla="val 50000"/>
            </a:avLst>
          </a:prstGeom>
          <a:solidFill>
            <a:srgbClr val="E6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15772B"/>
                </a:solidFill>
                <a:latin typeface="Segoe UI"/>
              </a:rPr>
              <a:t>Интерактивная панель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18" y="5806440"/>
            <a:ext cx="2270455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Анализ инструментов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8477" y="5806440"/>
            <a:ext cx="1194206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Портфели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8987" y="5806440"/>
            <a:ext cx="2466136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Опционная лаборатория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ДОХОДНОСТЬ И РИСК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Каждая доходность показана вместе с её риском</a:t>
            </a:r>
          </a:p>
        </p:txBody>
      </p:sp>
      <p:pic>
        <p:nvPicPr>
          <p:cNvPr id="5" name="Picture 4" descr="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18" y="2286000"/>
            <a:ext cx="594360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95160" y="2286000"/>
            <a:ext cx="2121408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14616" y="2468880"/>
            <a:ext cx="1682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2410C"/>
                </a:solidFill>
                <a:latin typeface="Segoe UI"/>
              </a:rPr>
              <a:t>−15,7%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616" y="2962656"/>
            <a:ext cx="16824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CAGR — годовая доходность (SBER)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9448" y="2286000"/>
            <a:ext cx="2121408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18904" y="2468880"/>
            <a:ext cx="1682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1A15"/>
                </a:solidFill>
                <a:latin typeface="Segoe UI"/>
              </a:rPr>
              <a:t>17,6%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8904" y="2962656"/>
            <a:ext cx="16824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Годовая волатильность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931920"/>
            <a:ext cx="2121408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14616" y="4114800"/>
            <a:ext cx="1682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1A15"/>
                </a:solidFill>
                <a:latin typeface="Segoe UI"/>
              </a:rPr>
              <a:t>−1,10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616" y="4608576"/>
            <a:ext cx="16824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Коэффициент Шарпа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3931920"/>
            <a:ext cx="2121408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18904" y="4114800"/>
            <a:ext cx="1682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2410C"/>
                </a:solidFill>
                <a:latin typeface="Segoe UI"/>
              </a:rPr>
              <a:t>−23,8%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8904" y="4608576"/>
            <a:ext cx="16824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Максимальная просадка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7118" y="5806440"/>
            <a:ext cx="4814316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Sortino · Calmar · информационный коэффициент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7738" y="5806440"/>
            <a:ext cx="3444544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Бета и альфа к бенчмарку (CAPM)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ХВОСТОВЫЕ 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VaR оценивается двумя методами — и они сверяются между собой</a:t>
            </a:r>
          </a:p>
        </p:txBody>
      </p:sp>
      <p:pic>
        <p:nvPicPr>
          <p:cNvPr id="5" name="Picture 4" descr="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18" y="2423160"/>
            <a:ext cx="10777458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6831" y="5771404"/>
            <a:ext cx="3933748" cy="384048"/>
          </a:xfrm>
          <a:prstGeom prst="roundRect">
            <a:avLst>
              <a:gd name="adj" fmla="val 50000"/>
            </a:avLst>
          </a:prstGeom>
          <a:solidFill>
            <a:srgbClr val="F8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 dirty="0" err="1">
                <a:solidFill>
                  <a:srgbClr val="C2410C"/>
                </a:solidFill>
                <a:latin typeface="Segoe UI"/>
              </a:rPr>
              <a:t>VaR 95% (исторический): −1,5% в день</a:t>
            </a:r>
            <a:endParaRPr sz="1350" b="1" dirty="0">
              <a:solidFill>
                <a:srgbClr val="C2410C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86883" y="5771404"/>
            <a:ext cx="3248863" cy="384048"/>
          </a:xfrm>
          <a:prstGeom prst="roundRect">
            <a:avLst>
              <a:gd name="adj" fmla="val 50000"/>
            </a:avLst>
          </a:prstGeom>
          <a:solidFill>
            <a:srgbClr val="F8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 dirty="0" err="1">
                <a:solidFill>
                  <a:srgbClr val="C2410C"/>
                </a:solidFill>
                <a:latin typeface="Segoe UI"/>
              </a:rPr>
              <a:t>CVaR — потери в хвосте: −2,8%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2050" y="5783415"/>
            <a:ext cx="2955340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 dirty="0" err="1">
                <a:solidFill>
                  <a:srgbClr val="57625B"/>
                </a:solidFill>
                <a:latin typeface="Segoe UI"/>
              </a:rPr>
              <a:t>Параметрический VaR: −1,9%</a:t>
            </a:r>
            <a:endParaRPr sz="1350" b="1" dirty="0">
              <a:solidFill>
                <a:srgbClr val="57625B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ДИВЕРСИФИКАЦИЯ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Корреляции показывают, где диверсификация настоящая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29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SBER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44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GAZP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59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LKOH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74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GMKN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89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YDEX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0418" y="2313432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IMOEX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18" y="2761488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SBER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929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44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6D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59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84B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74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81B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89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69A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0418" y="2606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D9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118" y="3332988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GAZP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29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6D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44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59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79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74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5A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89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89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0418" y="3177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4E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118" y="3904487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LKOH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29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84B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644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79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59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74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94B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789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3A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0418" y="3749039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B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118" y="4475988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GMKN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929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81B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44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5A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359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94B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0,41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74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789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1A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0418" y="4320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7A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118" y="5047488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YDEX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929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69A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44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89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359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3A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74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1A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0,57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789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0418" y="48920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D9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118" y="5618988"/>
            <a:ext cx="612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7625B"/>
                </a:solidFill>
                <a:latin typeface="Segoe UI"/>
              </a:rPr>
              <a:t>IMOEX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929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D9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644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4E9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0,74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359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B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074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77A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31A15"/>
                </a:solidFill>
                <a:latin typeface="Segoe UI"/>
              </a:rPr>
              <a:t>0,55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89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5D9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0,67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0418" y="546354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5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BFBF9"/>
                </a:solidFill>
                <a:latin typeface="Segoe UI"/>
              </a:rPr>
              <a:t>1,00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24838" y="3200400"/>
            <a:ext cx="615973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57625B"/>
                </a:solidFill>
                <a:latin typeface="Segoe UI"/>
              </a:rPr>
              <a:t>Теснее всего связаны GAZP и LKOH (0,69) — вместе они почти не диверсифицируют. Слабее всего — LKOH и GMKN (0,41): такая пара действительно снижает риск портфеля.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24838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48D"/>
                </a:solidFill>
                <a:latin typeface="Segoe UI"/>
              </a:rPr>
              <a:t>−1</a:t>
            </a:r>
          </a:p>
        </p:txBody>
      </p:sp>
      <p:pic>
        <p:nvPicPr>
          <p:cNvPr id="55" name="Picture 5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886" y="4736592"/>
            <a:ext cx="5245338" cy="1097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027376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48D"/>
                </a:solidFill>
                <a:latin typeface="Segoe UI"/>
              </a:rPr>
              <a:t>+1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ПРОИЗВОДНЫЕ 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dirty="0" err="1">
                <a:solidFill>
                  <a:srgbClr val="131A15"/>
                </a:solidFill>
                <a:latin typeface="Segoe UI"/>
              </a:rPr>
              <a:t>Опционные</a:t>
            </a:r>
            <a:r>
              <a:rPr sz="35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3500" b="1" dirty="0" err="1">
                <a:solidFill>
                  <a:srgbClr val="131A15"/>
                </a:solidFill>
                <a:latin typeface="Segoe UI"/>
              </a:rPr>
              <a:t>стратегии</a:t>
            </a:r>
            <a:r>
              <a:rPr sz="3500" b="1" dirty="0">
                <a:solidFill>
                  <a:srgbClr val="131A15"/>
                </a:solidFill>
                <a:latin typeface="Segoe UI"/>
              </a:rPr>
              <a:t> — с </a:t>
            </a:r>
            <a:r>
              <a:rPr sz="3500" b="1" dirty="0" err="1">
                <a:solidFill>
                  <a:srgbClr val="131A15"/>
                </a:solidFill>
                <a:latin typeface="Segoe UI"/>
              </a:rPr>
              <a:t>точками</a:t>
            </a:r>
            <a:r>
              <a:rPr sz="35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3500" b="1" dirty="0" err="1">
                <a:solidFill>
                  <a:srgbClr val="131A15"/>
                </a:solidFill>
                <a:latin typeface="Segoe UI"/>
              </a:rPr>
              <a:t>безубыточности</a:t>
            </a:r>
            <a:r>
              <a:rPr sz="3500" b="1" dirty="0">
                <a:solidFill>
                  <a:srgbClr val="131A15"/>
                </a:solidFill>
                <a:latin typeface="Segoe UI"/>
              </a:rPr>
              <a:t> и </a:t>
            </a:r>
            <a:r>
              <a:rPr sz="3500" b="1" dirty="0" err="1">
                <a:solidFill>
                  <a:srgbClr val="131A15"/>
                </a:solidFill>
                <a:latin typeface="Segoe UI"/>
              </a:rPr>
              <a:t>границами</a:t>
            </a:r>
            <a:r>
              <a:rPr sz="35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3500" b="1" dirty="0" err="1">
                <a:solidFill>
                  <a:srgbClr val="131A15"/>
                </a:solidFill>
                <a:latin typeface="Segoe UI"/>
              </a:rPr>
              <a:t>риска</a:t>
            </a:r>
            <a:endParaRPr sz="3500" b="1" dirty="0">
              <a:solidFill>
                <a:srgbClr val="131A15"/>
              </a:solidFill>
              <a:latin typeface="Segoe UI"/>
            </a:endParaRPr>
          </a:p>
        </p:txBody>
      </p:sp>
      <p:pic>
        <p:nvPicPr>
          <p:cNvPr id="5" name="Picture 4" descr="pay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6" y="2423160"/>
            <a:ext cx="10777458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7118" y="5806440"/>
            <a:ext cx="2563977" cy="384048"/>
          </a:xfrm>
          <a:prstGeom prst="roundRect">
            <a:avLst>
              <a:gd name="adj" fmla="val 50000"/>
            </a:avLst>
          </a:prstGeom>
          <a:solidFill>
            <a:srgbClr val="E6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15772B"/>
                </a:solidFill>
                <a:latin typeface="Segoe UI"/>
              </a:rPr>
              <a:t>Блэк–Шоулз и все греки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7399" y="5806440"/>
            <a:ext cx="3248863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Подразумеваемая волатильность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567" y="5806440"/>
            <a:ext cx="5009997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Стрэддл · спреды · покрытый колл · защитный пут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ИИ-АНАЛИТИК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Обычный ИИ выдумывает цифры — этот вызывает готовые инструменты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743200"/>
            <a:ext cx="3257206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294" y="2980944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ШАГ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94" y="331012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Запрос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94" y="369417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«Разбери SBER за квартал»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1756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7244" y="2743200"/>
            <a:ext cx="3257206" cy="3017520"/>
          </a:xfrm>
          <a:prstGeom prst="roundRect">
            <a:avLst>
              <a:gd name="adj" fmla="val 5500"/>
            </a:avLst>
          </a:prstGeom>
          <a:solidFill>
            <a:srgbClr val="E6F4E9"/>
          </a:solidFill>
          <a:ln w="12700">
            <a:solidFill>
              <a:srgbClr val="21A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2420" y="2980944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ШАГ 2 · АГЕНТНЫЙ РЕЖИМ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420" y="331012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Агент сам вызывает инструменты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2420" y="3913632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Риск и доходность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2420" y="4279392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Стресс-сценарии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420" y="4645152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Новости и тональность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1882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948D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7370" y="2743200"/>
            <a:ext cx="3257206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92546" y="2980944"/>
            <a:ext cx="27268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48D"/>
                </a:solidFill>
                <a:latin typeface="Segoe UI"/>
              </a:rPr>
              <a:t>ШАГ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2546" y="3310128"/>
            <a:ext cx="272685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1A15"/>
                </a:solidFill>
                <a:latin typeface="Segoe UI"/>
              </a:rPr>
              <a:t>Комментарий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2546" y="369417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Обзор, тренд, риски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2546" y="4059936"/>
            <a:ext cx="272685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1A038"/>
                </a:solidFill>
                <a:latin typeface="Segoe UI"/>
              </a:rPr>
              <a:t>•  </a:t>
            </a:r>
            <a:r>
              <a:rPr sz="1450" b="0">
                <a:solidFill>
                  <a:srgbClr val="57625B"/>
                </a:solidFill>
                <a:latin typeface="Segoe UI"/>
              </a:rPr>
              <a:t>Ключевые сигналы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ИИ-АНАЛИТИК · ЖИВОЙ ПРИМЕР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Так выглядит комментарий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103120"/>
            <a:ext cx="10777458" cy="3429000"/>
          </a:xfrm>
          <a:prstGeom prst="roundRect">
            <a:avLst>
              <a:gd name="adj" fmla="val 5000"/>
            </a:avLst>
          </a:prstGeom>
          <a:solidFill>
            <a:srgbClr val="E6F4E9"/>
          </a:solidFill>
          <a:ln w="12700">
            <a:solidFill>
              <a:srgbClr val="21A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2878" y="2377439"/>
            <a:ext cx="100459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5772B"/>
                </a:solidFill>
                <a:latin typeface="Segoe UI"/>
              </a:rPr>
              <a:t>🧠 Комментарий AI-аналитика — дословно из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78" y="29626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772B"/>
                </a:solidFill>
                <a:latin typeface="Segoe UI"/>
              </a:rPr>
              <a:t>СВОДКА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0198" y="2926079"/>
            <a:ext cx="862861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131A15"/>
                </a:solidFill>
                <a:latin typeface="Segoe UI"/>
              </a:rPr>
              <a:t>Акции Сбербанка демонстрируют устойчивую нисходящую динамику: </a:t>
            </a:r>
            <a:r>
              <a:rPr sz="1650" b="1">
                <a:solidFill>
                  <a:srgbClr val="131A15"/>
                </a:solidFill>
                <a:latin typeface="Segoe UI"/>
              </a:rPr>
              <a:t>минус 17,99%</a:t>
            </a:r>
            <a:r>
              <a:rPr sz="1650" b="0">
                <a:solidFill>
                  <a:srgbClr val="131A15"/>
                </a:solidFill>
                <a:latin typeface="Segoe UI"/>
              </a:rPr>
              <a:t> за полгода на фоне высокой волатильности.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78" y="380390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772B"/>
                </a:solidFill>
                <a:latin typeface="Segoe UI"/>
              </a:rPr>
              <a:t>ТРЕНД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0198" y="3767328"/>
            <a:ext cx="862861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131A15"/>
                </a:solidFill>
                <a:latin typeface="Segoe UI"/>
              </a:rPr>
              <a:t>Медвежий: цена значительно ниже долгосрочных скользящих средних, RSI — в зоне перепроданности, рыночная позиция слабая.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78" y="464515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772B"/>
                </a:solidFill>
                <a:latin typeface="Segoe UI"/>
              </a:rPr>
              <a:t>РИСК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0198" y="4608576"/>
            <a:ext cx="862861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131A15"/>
                </a:solidFill>
                <a:latin typeface="Segoe UI"/>
              </a:rPr>
              <a:t>Шарп −1,74 и Сортино −1,89 — низкое вознаграждение за взятый риск; максимальная просадка — </a:t>
            </a:r>
            <a:r>
              <a:rPr sz="1650" b="1">
                <a:solidFill>
                  <a:srgbClr val="131A15"/>
                </a:solidFill>
                <a:latin typeface="Segoe UI"/>
              </a:rPr>
              <a:t>−23,84%</a:t>
            </a:r>
            <a:r>
              <a:rPr sz="1650" b="0">
                <a:solidFill>
                  <a:srgbClr val="131A15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118" y="5852160"/>
            <a:ext cx="4227271" cy="384048"/>
          </a:xfrm>
          <a:prstGeom prst="roundRect">
            <a:avLst>
              <a:gd name="adj" fmla="val 50000"/>
            </a:avLst>
          </a:prstGeom>
          <a:solidFill>
            <a:srgbClr val="E6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15772B"/>
                </a:solidFill>
                <a:latin typeface="Segoe UI"/>
              </a:rPr>
              <a:t>Реальный отчёт по SBER · GigaChat-2-Max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693" y="5852160"/>
            <a:ext cx="2368296" cy="384048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57625B"/>
                </a:solidFill>
                <a:latin typeface="Segoe UI"/>
              </a:rPr>
              <a:t>~30 секунд на бумагу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5293" y="5852160"/>
            <a:ext cx="3444544" cy="384048"/>
          </a:xfrm>
          <a:prstGeom prst="roundRect">
            <a:avLst>
              <a:gd name="adj" fmla="val 50000"/>
            </a:avLst>
          </a:prstGeom>
          <a:solidFill>
            <a:srgbClr val="F8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350" b="1">
                <a:solidFill>
                  <a:srgbClr val="C2410C"/>
                </a:solidFill>
                <a:latin typeface="Segoe UI"/>
              </a:rPr>
              <a:t>Не является инвестрекомендацией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118" y="702548"/>
            <a:ext cx="316984" cy="27940"/>
          </a:xfrm>
          <a:prstGeom prst="rect">
            <a:avLst/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2974" y="633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5772B"/>
                </a:solidFill>
                <a:latin typeface="Segoe UI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18" y="999728"/>
            <a:ext cx="986305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>
                <a:solidFill>
                  <a:srgbClr val="131A15"/>
                </a:solidFill>
                <a:latin typeface="Segoe UI"/>
              </a:rPr>
              <a:t>Проект в четырёх цифрах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118" y="2651760"/>
            <a:ext cx="252977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3150" y="2926080"/>
            <a:ext cx="20177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5772B"/>
                </a:solidFill>
                <a:latin typeface="Segoe UI"/>
              </a:rP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50" y="3794760"/>
            <a:ext cx="20177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метрик доходности и риска — от Шарпа до CVaR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346" y="2651760"/>
            <a:ext cx="252977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12378" y="2926080"/>
            <a:ext cx="20177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5772B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378" y="3794760"/>
            <a:ext cx="20177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стратегии оптимизации портфеля и эффективная граница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2651760"/>
            <a:ext cx="252977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1607" y="2926080"/>
            <a:ext cx="20177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5772B"/>
                </a:solidFill>
                <a:latin typeface="Segoe U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3794760"/>
            <a:ext cx="20177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опционных стратегий с расчётом выплат и греков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4804" y="2651760"/>
            <a:ext cx="252977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0836" y="2926080"/>
            <a:ext cx="20177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5772B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836" y="3794760"/>
            <a:ext cx="20177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7625B"/>
                </a:solidFill>
                <a:latin typeface="Segoe UI"/>
              </a:rPr>
              <a:t>формата результата: панель, PowerPoint, Excel, сводка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A948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6519" y="1586484"/>
            <a:ext cx="92656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dirty="0" err="1">
                <a:solidFill>
                  <a:srgbClr val="131A15"/>
                </a:solidFill>
                <a:latin typeface="Segoe UI"/>
              </a:rPr>
              <a:t>Аналитика</a:t>
            </a:r>
            <a:r>
              <a:rPr sz="4400" b="1" dirty="0">
                <a:solidFill>
                  <a:srgbClr val="131A15"/>
                </a:solidFill>
                <a:latin typeface="Segoe UI"/>
              </a:rPr>
              <a:t>, </a:t>
            </a:r>
            <a:r>
              <a:rPr sz="4400" b="1" dirty="0" err="1">
                <a:solidFill>
                  <a:srgbClr val="131A15"/>
                </a:solidFill>
                <a:latin typeface="Segoe UI"/>
              </a:rPr>
              <a:t>которая</a:t>
            </a:r>
            <a:r>
              <a:rPr sz="44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4400" b="1" dirty="0" err="1">
                <a:solidFill>
                  <a:srgbClr val="131A15"/>
                </a:solidFill>
                <a:latin typeface="Segoe UI"/>
              </a:rPr>
              <a:t>делает</a:t>
            </a:r>
            <a:r>
              <a:rPr sz="44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4400" b="1" dirty="0" err="1">
                <a:solidFill>
                  <a:srgbClr val="131A15"/>
                </a:solidFill>
                <a:latin typeface="Segoe UI"/>
              </a:rPr>
              <a:t>себя</a:t>
            </a:r>
            <a:r>
              <a:rPr sz="4400" b="1" dirty="0">
                <a:solidFill>
                  <a:srgbClr val="131A15"/>
                </a:solidFill>
                <a:latin typeface="Segoe UI"/>
              </a:rPr>
              <a:t> </a:t>
            </a:r>
            <a:r>
              <a:rPr sz="4400" b="1" dirty="0" err="1">
                <a:solidFill>
                  <a:srgbClr val="131A15"/>
                </a:solidFill>
                <a:latin typeface="Segoe UI"/>
              </a:rPr>
              <a:t>сама</a:t>
            </a:r>
            <a:endParaRPr sz="4400" b="1" dirty="0">
              <a:solidFill>
                <a:srgbClr val="131A15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4560" y="3154680"/>
            <a:ext cx="780257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57625B"/>
                </a:solidFill>
                <a:latin typeface="Segoe UI"/>
              </a:rPr>
              <a:t>Живая версия открыта — данные, риск, портфели и опционы можно посмотреть в действии.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52547" y="4206240"/>
            <a:ext cx="2606040" cy="502920"/>
          </a:xfrm>
          <a:prstGeom prst="roundRect">
            <a:avLst>
              <a:gd name="adj" fmla="val 50000"/>
            </a:avLst>
          </a:prstGeom>
          <a:solidFill>
            <a:srgbClr val="21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mind.foodize.ru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2907" y="427939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7625B"/>
                </a:solidFill>
                <a:latin typeface="Segoe UI"/>
              </a:rPr>
              <a:t>Иван Герасимов · ivandivan2909@gmail.com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586</Words>
  <Application>Microsoft Office PowerPoint</Application>
  <PresentationFormat>Широкоэкранный</PresentationFormat>
  <Paragraphs>176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Gerasimov</cp:lastModifiedBy>
  <cp:revision>3</cp:revision>
  <dcterms:created xsi:type="dcterms:W3CDTF">2013-01-27T09:14:16Z</dcterms:created>
  <dcterms:modified xsi:type="dcterms:W3CDTF">2026-07-20T04:15:17Z</dcterms:modified>
  <cp:category/>
</cp:coreProperties>
</file>